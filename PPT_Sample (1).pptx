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50" r:id="rId3"/>
    <p:sldId id="383" r:id="rId4"/>
    <p:sldId id="403" r:id="rId5"/>
    <p:sldId id="404" r:id="rId6"/>
    <p:sldId id="405" r:id="rId7"/>
    <p:sldId id="406" r:id="rId8"/>
    <p:sldId id="407" r:id="rId9"/>
    <p:sldId id="408" r:id="rId10"/>
    <p:sldId id="409" r:id="rId11"/>
    <p:sldId id="410" r:id="rId12"/>
    <p:sldId id="411" r:id="rId13"/>
    <p:sldId id="412" r:id="rId14"/>
    <p:sldId id="413" r:id="rId15"/>
    <p:sldId id="4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46" autoAdjust="0"/>
    <p:restoredTop sz="95256" autoAdjust="0"/>
  </p:normalViewPr>
  <p:slideViewPr>
    <p:cSldViewPr showGuides="1">
      <p:cViewPr varScale="1">
        <p:scale>
          <a:sx n="82" d="100"/>
          <a:sy n="82" d="100"/>
        </p:scale>
        <p:origin x="898" y="72"/>
      </p:cViewPr>
      <p:guideLst>
        <p:guide orient="horz" pos="2142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78584-52B0-FC4D-AE45-7301D11129A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1077D-BC7D-1E45-ACAB-88A9C84F9F6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95D5D-C307-4246-8476-41DB74C33D4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E540-CE26-4126-8871-312CD2703E38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79E6A-2CAE-41FB-BC2C-0E29DD107FA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1CC91-4A05-4C69-92E9-E7F6B08557A7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21BE-E947-43F8-B13C-F3DC85DD0B51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EE77B-B72D-440C-8F87-4FEA83DC5620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257-D14A-4E72-8965-53E6763DC438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C397B-532E-4512-836E-281DBA3AEE89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6EF1-84EC-496C-B358-741022CA657A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A5EB-6D31-44E1-BC64-A11ACFAACC94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35DC-3522-49DD-9962-70C289BAF9DE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79B9D-6321-49C7-869C-8C553B067A0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E8B6D-A843-4976-BA70-A811246CC56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Process 4"/>
          <p:cNvSpPr/>
          <p:nvPr/>
        </p:nvSpPr>
        <p:spPr>
          <a:xfrm>
            <a:off x="-96520" y="-27456"/>
            <a:ext cx="12192000" cy="685800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3428365" y="4081780"/>
            <a:ext cx="4659630" cy="156845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IN" alt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Mohd Faizan Malik</a:t>
            </a:r>
            <a:endParaRPr lang="en-IN" altLang="en-US" sz="2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en-IN" alt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Admission No: 2025B15430002</a:t>
            </a:r>
            <a:endParaRPr lang="en-IN" altLang="en-US" sz="2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en-IN" alt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 29/11/25</a:t>
            </a:r>
            <a:br>
              <a:rPr lang="en-IN" altLang="en-US" sz="2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1370137" y="2212455"/>
            <a:ext cx="9505055" cy="584775"/>
          </a:xfrm>
          <a:prstGeom prst="rect">
            <a:avLst/>
          </a:prstGeom>
        </p:spPr>
        <p:txBody>
          <a:bodyPr/>
          <a:lstStyle/>
          <a:p>
            <a:pPr algn="ctr" defTabSz="685800">
              <a:buClr>
                <a:srgbClr val="5B9BD5"/>
              </a:buClr>
              <a:buSzPct val="70000"/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Presentation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73885"/>
          <a:stretch>
            <a:fillRect/>
          </a:stretch>
        </p:blipFill>
        <p:spPr>
          <a:xfrm>
            <a:off x="4619836" y="153473"/>
            <a:ext cx="2952328" cy="12068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9540" y="2924669"/>
            <a:ext cx="102251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 Digital library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75520" y="1556792"/>
            <a:ext cx="921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 Data Science</a:t>
            </a:r>
            <a:endParaRPr lang="en-IN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900"/>
    </mc:Choice>
    <mc:Fallback>
      <p:transition spd="slow" advTm="469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Process 4"/>
          <p:cNvSpPr/>
          <p:nvPr/>
        </p:nvSpPr>
        <p:spPr>
          <a:xfrm>
            <a:off x="0" y="27384"/>
            <a:ext cx="12192000" cy="685800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 txBox="1"/>
          <p:nvPr/>
        </p:nvSpPr>
        <p:spPr>
          <a:xfrm>
            <a:off x="1733410" y="139638"/>
            <a:ext cx="8467046" cy="618752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800" b="1" dirty="0">
              <a:latin typeface="+mn-lt"/>
            </a:endParaRPr>
          </a:p>
          <a:p>
            <a:pPr algn="ctr"/>
            <a:endParaRPr lang="en-US" sz="38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6519" y="1097067"/>
            <a:ext cx="10778962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Results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  <a:p>
            <a:endParaRPr lang="en-I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23"/>
    </mc:Choice>
    <mc:Fallback>
      <p:transition spd="slow" advTm="342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INTRODUCTION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endParaRPr lang="en-US" altLang="en-GB" sz="2200" b="1"/>
          </a:p>
          <a:p>
            <a:r>
              <a:rPr lang="en-US" altLang="en-GB" sz="2200"/>
              <a:t>The "Online Book Reading" system is a web application designed to provide users with access to a digital library of books.</a:t>
            </a:r>
            <a:endParaRPr lang="en-US" altLang="en-GB" sz="2200"/>
          </a:p>
          <a:p>
            <a:endParaRPr lang="en-US" altLang="en-GB" sz="2200"/>
          </a:p>
          <a:p>
            <a:r>
              <a:rPr lang="en-US" altLang="en-GB" sz="2200"/>
              <a:t>The platform aims to modernize the traditional book-buying and reading experience by bringing it online.</a:t>
            </a:r>
            <a:endParaRPr lang="en-US" altLang="en-GB" sz="2200"/>
          </a:p>
          <a:p>
            <a:endParaRPr lang="en-US" altLang="en-GB" sz="1900"/>
          </a:p>
          <a:p>
            <a:r>
              <a:rPr lang="en-US" altLang="en-GB" sz="2400" b="1" u="sng"/>
              <a:t>Key Focus:</a:t>
            </a:r>
            <a:endParaRPr lang="en-US" altLang="en-GB" sz="2400" b="1" u="sng"/>
          </a:p>
          <a:p>
            <a:endParaRPr lang="en-US" altLang="en-GB" sz="1900"/>
          </a:p>
          <a:p>
            <a:r>
              <a:rPr lang="en-US" altLang="en-GB" sz="1900"/>
              <a:t>User-friendly interface.</a:t>
            </a:r>
            <a:endParaRPr lang="en-US" altLang="en-GB" sz="1900"/>
          </a:p>
          <a:p>
            <a:endParaRPr lang="en-US" altLang="en-GB" sz="1900"/>
          </a:p>
          <a:p>
            <a:r>
              <a:rPr lang="en-US" altLang="en-GB" sz="1900"/>
              <a:t>Accessible navigation (Home, Login, Signup, Contact).</a:t>
            </a:r>
            <a:endParaRPr lang="en-US" altLang="en-GB" sz="1900"/>
          </a:p>
          <a:p>
            <a:endParaRPr lang="en-US" altLang="en-GB" sz="1900"/>
          </a:p>
          <a:p>
            <a:r>
              <a:rPr lang="en-US" altLang="en-GB" sz="1900"/>
              <a:t>A visually appealing catalog of books</a:t>
            </a:r>
            <a:endParaRPr lang="en-US" altLang="en-GB" sz="19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PROBLEM STATEMENT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GB" sz="4000" b="1" u="sng"/>
              <a:t>Current Challenges:</a:t>
            </a:r>
            <a:endParaRPr lang="en-US" altLang="en-GB" sz="4000" b="1" u="sng"/>
          </a:p>
          <a:p>
            <a:endParaRPr lang="en-US" altLang="en-GB"/>
          </a:p>
          <a:p>
            <a:r>
              <a:rPr lang="en-US" altLang="en-GB" b="1"/>
              <a:t>Physical Constraints</a:t>
            </a:r>
            <a:r>
              <a:rPr lang="en-US" altLang="en-GB"/>
              <a:t>: Traditional libraries and bookstores have limited physical stock and operating hours.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Accessibility:</a:t>
            </a:r>
            <a:r>
              <a:rPr lang="en-US" altLang="en-GB"/>
              <a:t> Readers often face difficulties finding specific titles in local stores.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Convenience</a:t>
            </a:r>
            <a:r>
              <a:rPr lang="en-US" altLang="en-GB"/>
              <a:t>: There is a lack of centralized platforms where users can browse, buy, and contact support in a single streamlined interface.</a:t>
            </a:r>
            <a:endParaRPr lang="en-US" altLang="en-GB"/>
          </a:p>
          <a:p>
            <a:endParaRPr lang="en-US" altLang="en-GB"/>
          </a:p>
          <a:p>
            <a:r>
              <a:rPr lang="en-US" altLang="en-GB" sz="4000" b="1" u="sng"/>
              <a:t>Proposed Solution:</a:t>
            </a:r>
            <a:endParaRPr lang="en-US" altLang="en-GB" sz="4000" b="1" u="sng"/>
          </a:p>
          <a:p>
            <a:endParaRPr lang="en-US" altLang="en-GB"/>
          </a:p>
          <a:p>
            <a:r>
              <a:rPr lang="en-US" altLang="en-GB"/>
              <a:t>A web portal that allows 24/7 access to browse book collections and manage user memberships</a:t>
            </a:r>
            <a:endParaRPr lang="en-US" alt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OBJECTIVES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endParaRPr lang="en-US" altLang="en-GB"/>
          </a:p>
          <a:p>
            <a:r>
              <a:rPr lang="en-US" altLang="en-GB" b="1"/>
              <a:t>Develop a Responsive U</a:t>
            </a:r>
            <a:r>
              <a:rPr lang="en-US" altLang="en-GB"/>
              <a:t>I: Create a clean, consistent user interface using HTML5 and CSS3.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User Management Interface:</a:t>
            </a:r>
            <a:r>
              <a:rPr lang="en-US" altLang="en-GB"/>
              <a:t> Design dedicated pages for user registration (Signup) and authentication (Login).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Product Display:</a:t>
            </a:r>
            <a:r>
              <a:rPr lang="en-US" altLang="en-GB"/>
              <a:t> Implement a "Card Layout" system to display book covers, descriptions, and pricing effectively.</a:t>
            </a:r>
            <a:endParaRPr lang="en-US" altLang="en-GB"/>
          </a:p>
          <a:p>
            <a:endParaRPr lang="en-US" altLang="en-GB" b="1"/>
          </a:p>
          <a:p>
            <a:r>
              <a:rPr lang="en-US" altLang="en-GB" b="1"/>
              <a:t>Communication Channel: </a:t>
            </a:r>
            <a:r>
              <a:rPr lang="en-US" altLang="en-GB"/>
              <a:t>Establish a contact mechanism for user feedback and inquiries.</a:t>
            </a:r>
            <a:endParaRPr lang="en-US" alt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METHODOLOGY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GB" sz="2300" b="1"/>
              <a:t>Technologies Used:</a:t>
            </a:r>
            <a:endParaRPr lang="en-US" altLang="en-GB" sz="2300" b="1"/>
          </a:p>
          <a:p>
            <a:endParaRPr lang="en-US" altLang="en-GB" sz="2100"/>
          </a:p>
          <a:p>
            <a:r>
              <a:rPr lang="en-US" altLang="en-GB" sz="2100" b="1" u="sng"/>
              <a:t>HTML5:</a:t>
            </a:r>
            <a:r>
              <a:rPr lang="en-US" altLang="en-GB" sz="2100"/>
              <a:t> Used for the semantic structure of the application (Headers, Navigation, Forms, Footers).</a:t>
            </a:r>
            <a:endParaRPr lang="en-US" altLang="en-GB" sz="2100"/>
          </a:p>
          <a:p>
            <a:endParaRPr lang="en-US" altLang="en-GB" sz="2100"/>
          </a:p>
          <a:p>
            <a:r>
              <a:rPr lang="en-US" altLang="en-GB" sz="2100" b="1"/>
              <a:t>CSS3: </a:t>
            </a:r>
            <a:r>
              <a:rPr lang="en-US" altLang="en-GB" sz="2100"/>
              <a:t>Used for styling, including:</a:t>
            </a:r>
            <a:endParaRPr lang="en-US" altLang="en-GB" sz="2100"/>
          </a:p>
          <a:p>
            <a:endParaRPr lang="en-US" altLang="en-GB" sz="2100"/>
          </a:p>
          <a:p>
            <a:r>
              <a:rPr lang="en-US" altLang="en-GB" sz="2100" b="1" u="sng"/>
              <a:t>Flexbox:</a:t>
            </a:r>
            <a:r>
              <a:rPr lang="en-US" altLang="en-GB" sz="2100"/>
              <a:t> For aligning navigation menus and book cards side-by-side.</a:t>
            </a:r>
            <a:endParaRPr lang="en-US" altLang="en-GB" sz="2100"/>
          </a:p>
          <a:p>
            <a:endParaRPr lang="en-US" altLang="en-GB" sz="2100"/>
          </a:p>
          <a:p>
            <a:r>
              <a:rPr lang="en-US" altLang="en-GB" sz="2100" b="1" u="sng"/>
              <a:t>Sticky Positioning</a:t>
            </a:r>
            <a:r>
              <a:rPr lang="en-US" altLang="en-GB" sz="2100"/>
              <a:t>: Keeping the navigation bar accessible while scrolling.</a:t>
            </a:r>
            <a:endParaRPr lang="en-US" altLang="en-GB" sz="2100"/>
          </a:p>
          <a:p>
            <a:endParaRPr lang="en-US" altLang="en-GB" sz="2100"/>
          </a:p>
          <a:p>
            <a:r>
              <a:rPr lang="en-US" altLang="en-GB" sz="2100" b="1" u="sng"/>
              <a:t>Hover Effects:</a:t>
            </a:r>
            <a:r>
              <a:rPr lang="en-US" altLang="en-GB" sz="2100"/>
              <a:t> Interactive buttons and links (Gold color on hover) to improve User Experience (UX)</a:t>
            </a:r>
            <a:endParaRPr lang="en-US" altLang="en-GB" sz="21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2500" b="1"/>
              <a:t>Design Approach:</a:t>
            </a:r>
            <a:endParaRPr lang="en-US" altLang="en-GB" sz="2500" b="1"/>
          </a:p>
          <a:p>
            <a:endParaRPr lang="en-US" altLang="en-GB" sz="2200"/>
          </a:p>
          <a:p>
            <a:r>
              <a:rPr lang="en-US" altLang="en-GB" sz="2200" b="1" u="sng"/>
              <a:t>Modular Design:</a:t>
            </a:r>
            <a:r>
              <a:rPr lang="en-US" altLang="en-GB" sz="2200"/>
              <a:t> Reusable CSS classes (e.g., .container, .button, .nav) to ensure consistency across all pages.</a:t>
            </a:r>
            <a:endParaRPr lang="en-US" altLang="en-GB" sz="2200"/>
          </a:p>
          <a:p>
            <a:endParaRPr lang="en-US" altLang="en-GB" sz="2200"/>
          </a:p>
          <a:p>
            <a:r>
              <a:rPr lang="en-US" altLang="en-GB" sz="2200" b="1" u="sng"/>
              <a:t>Assets:</a:t>
            </a:r>
            <a:r>
              <a:rPr lang="en-US" altLang="en-GB" sz="2200"/>
              <a:t> Integration of high-quality imagery (via Unsplash) for book covers and hero sections.</a:t>
            </a:r>
            <a:endParaRPr lang="en-US" altLang="en-GB" sz="2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OUTPUTS</a:t>
            </a:r>
            <a:endParaRPr lang="en-IN" altLang="en-GB"/>
          </a:p>
        </p:txBody>
      </p:sp>
      <p:pic>
        <p:nvPicPr>
          <p:cNvPr id="5" name="Content Placeholder 4" descr="Screenshot 2025-11-29 12085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83005" y="1600200"/>
            <a:ext cx="9825355" cy="452628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 sz="2500"/>
              <a:t>LOGIN PAGE</a:t>
            </a:r>
            <a:endParaRPr lang="en-IN" altLang="en-GB" sz="2500"/>
          </a:p>
        </p:txBody>
      </p:sp>
      <p:pic>
        <p:nvPicPr>
          <p:cNvPr id="5" name="Content Placeholder 4" descr="Screenshot 2025-11-29 12090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1979295"/>
            <a:ext cx="10972800" cy="376682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 sz="2500"/>
              <a:t>MEMBERSHIP PAGE</a:t>
            </a:r>
            <a:endParaRPr lang="en-IN" altLang="en-GB" sz="2500"/>
          </a:p>
        </p:txBody>
      </p:sp>
      <p:pic>
        <p:nvPicPr>
          <p:cNvPr id="5" name="Content Placeholder 4" descr="Screenshot 2025-11-29 12090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1981200"/>
            <a:ext cx="10972800" cy="376301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 sz="2500"/>
              <a:t>CONTACT US PAGE</a:t>
            </a:r>
            <a:endParaRPr lang="en-IN" altLang="en-GB" sz="2500"/>
          </a:p>
        </p:txBody>
      </p:sp>
      <p:pic>
        <p:nvPicPr>
          <p:cNvPr id="5" name="Content Placeholder 4" descr="Screenshot 2025-11-29 12091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94130" y="1600200"/>
            <a:ext cx="9602470" cy="452628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Text Box 5"/>
          <p:cNvSpPr txBox="1"/>
          <p:nvPr/>
        </p:nvSpPr>
        <p:spPr>
          <a:xfrm>
            <a:off x="7081520" y="793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CONCLUSION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GB" sz="2100" b="1" u="sng"/>
              <a:t>Summary:</a:t>
            </a:r>
            <a:endParaRPr lang="en-US" altLang="en-GB" sz="2100" b="1" u="sng"/>
          </a:p>
          <a:p>
            <a:endParaRPr lang="en-US" altLang="en-GB" sz="2100"/>
          </a:p>
          <a:p>
            <a:r>
              <a:rPr lang="en-US" altLang="en-GB" sz="2100"/>
              <a:t>The project successfully demonstrates a functional Frontend Prototype for an online bookstore.</a:t>
            </a:r>
            <a:endParaRPr lang="en-US" altLang="en-GB" sz="2100"/>
          </a:p>
          <a:p>
            <a:endParaRPr lang="en-US" altLang="en-GB" sz="2100"/>
          </a:p>
          <a:p>
            <a:r>
              <a:rPr lang="en-US" altLang="en-GB" sz="2100"/>
              <a:t>All core navigation links works seamlessly between Home, Login, Signup, and Contact pages.</a:t>
            </a:r>
            <a:endParaRPr lang="en-US" altLang="en-GB" sz="2100"/>
          </a:p>
          <a:p>
            <a:endParaRPr lang="en-US" altLang="en-GB" sz="2100"/>
          </a:p>
          <a:p>
            <a:r>
              <a:rPr lang="en-US" altLang="en-GB" sz="2100"/>
              <a:t>The visual hierarchy (Navigation -&gt; Header -&gt; Content -&gt; Footer) is maintained consistently across the application.</a:t>
            </a:r>
            <a:endParaRPr lang="en-US" altLang="en-GB" sz="2100"/>
          </a:p>
          <a:p>
            <a:endParaRPr lang="en-US" altLang="en-GB" sz="2100"/>
          </a:p>
          <a:p>
            <a:r>
              <a:rPr lang="en-US" altLang="en-GB" sz="2100" b="1" u="sng"/>
              <a:t>Impact:</a:t>
            </a:r>
            <a:endParaRPr lang="en-US" altLang="en-GB" sz="2100" b="1" u="sng"/>
          </a:p>
          <a:p>
            <a:endParaRPr lang="en-US" altLang="en-GB" sz="2100"/>
          </a:p>
          <a:p>
            <a:r>
              <a:rPr lang="en-US" altLang="en-GB" sz="2100"/>
              <a:t>Provides a strong foundation for a scalable e-commerce or e-library application</a:t>
            </a:r>
            <a:endParaRPr lang="en-US" altLang="en-GB" sz="21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 sz="3500"/>
              <a:t>FUTURE WORK</a:t>
            </a:r>
            <a:endParaRPr lang="en-IN" altLang="en-GB" sz="35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en-GB" b="1" u="sng"/>
              <a:t>Backend Integration</a:t>
            </a:r>
            <a:r>
              <a:rPr lang="en-US" altLang="en-GB"/>
              <a:t>: Connect the HTML forms to a server (Node.js/PHP) and Database (SQL/MongoDB) to store user data and actual book content.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/>
              <a:t>Payment Gateway:</a:t>
            </a:r>
            <a:r>
              <a:rPr lang="en-US" altLang="en-GB"/>
              <a:t> Implement functionality for the "Buy Now" buttons to process real transactions.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/>
              <a:t>Search Functionality:</a:t>
            </a:r>
            <a:r>
              <a:rPr lang="en-US" altLang="en-GB"/>
              <a:t> Add a search bar to filter books by title or genre.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/>
              <a:t>Responsiveness:</a:t>
            </a:r>
            <a:r>
              <a:rPr lang="en-US" altLang="en-GB"/>
              <a:t> Further refine CSS media queries to ensure perfect rendering on mobile devices.</a:t>
            </a:r>
            <a:endParaRPr lang="en-US" alt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Process 4"/>
          <p:cNvSpPr/>
          <p:nvPr/>
        </p:nvSpPr>
        <p:spPr>
          <a:xfrm>
            <a:off x="-166271" y="-29765"/>
            <a:ext cx="12192000" cy="685800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7" name="Picture 2" descr="ABESEC OLA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 txBox="1"/>
          <p:nvPr/>
        </p:nvSpPr>
        <p:spPr>
          <a:xfrm>
            <a:off x="1696206" y="2654182"/>
            <a:ext cx="8467046" cy="618752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800" b="1" dirty="0">
              <a:latin typeface="+mn-lt"/>
            </a:endParaRPr>
          </a:p>
          <a:p>
            <a:pPr algn="ctr"/>
            <a:endParaRPr lang="en-US" sz="3800" b="1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3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005670" y="1051790"/>
            <a:ext cx="8851122" cy="757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6400" indent="-406400">
              <a:lnSpc>
                <a:spcPct val="107000"/>
              </a:lnSpc>
              <a:spcAft>
                <a:spcPts val="800"/>
              </a:spcAft>
            </a:pPr>
            <a:b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23"/>
    </mc:Choice>
    <mc:Fallback>
      <p:transition spd="slow" advTm="342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2987</Words>
  <Application>WPS Presentation</Application>
  <PresentationFormat>Widescreen</PresentationFormat>
  <Paragraphs>125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Death Battle</dc:title>
  <dc:creator>Harsh Khatter</dc:creator>
  <cp:lastModifiedBy>Fãîzäñ málík</cp:lastModifiedBy>
  <cp:revision>123</cp:revision>
  <dcterms:created xsi:type="dcterms:W3CDTF">2020-07-18T14:21:00Z</dcterms:created>
  <dcterms:modified xsi:type="dcterms:W3CDTF">2025-11-29T06:45:01Z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10F2F4C955854550BB2EFAAB1CA7B67C_12</vt:lpwstr>
  </property>
  <property fmtid="{D5CDD505-2E9C-101B-9397-08002B2CF9AE}" pid="3" name="KSOProductBuildVer">
    <vt:lpwstr>2057-12.2.0.23158</vt:lpwstr>
  </property>
</Properties>
</file>